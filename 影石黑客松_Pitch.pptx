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1096000" y="1900000"/>
            <a:ext cx="10000000" cy="13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4000" b="1" dirty="0">
                <a:solidFill>
                  <a:srgbClr val="1F3864"/>
                </a:solidFill>
                <a:latin typeface="Calibri"/>
                <a:ea typeface="Microsoft YaHei"/>
              </a:rPr>
              <a:t>AI Memory Space</a:t>
            </a:r>
          </a:p>
        </p:txBody>
      </p:sp>
      <p:sp>
        <p:nvSpPr>
          <p:cNvPr id="3" name="bar3"/>
          <p:cNvSpPr/>
          <p:nvPr/>
        </p:nvSpPr>
        <p:spPr>
          <a:xfrm>
            <a:off x="4724400" y="3350000"/>
            <a:ext cx="2743200" cy="914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1096000" y="3700000"/>
            <a:ext cx="10000000" cy="8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404040"/>
                </a:solidFill>
                <a:latin typeface="Calibri"/>
                <a:ea typeface="Microsoft YaHei"/>
              </a:rPr>
              <a:t>影石黑客松 · AI+影像开发赛道</a:t>
            </a:r>
          </a:p>
        </p:txBody>
      </p:sp>
      <p:sp>
        <p:nvSpPr>
          <p:cNvPr id="5" name="tb5"/>
          <p:cNvSpPr/>
          <p:nvPr/>
        </p:nvSpPr>
        <p:spPr>
          <a:xfrm>
            <a:off x="1096000" y="4550000"/>
            <a:ext cx="10000000" cy="8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2E5496"/>
                </a:solidFill>
                <a:latin typeface="Calibri"/>
                <a:ea typeface="Microsoft YaHei"/>
              </a:rPr>
              <a:t>让影石拍下的每个空间都成为可进入的记忆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一句话主张（BLUF）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影石 360° 素材拍下的是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完整空间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，但产品只把它当「一段可观看的视频」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我们做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AI Memory Space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：把 360° 素材变成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可计算记忆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「时间 + 空间 + 人物 + 事件」→ AI 理解你想留下什么、想怎样重新体验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把「可观看」升级为「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可进入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战略底座（为什么打这个点）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影石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唯一护城河 = 全景算法 + AI 软件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（VRIO）→ 做深软件，不拼硬件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大疆美国受限 + GoPro 崩溃 → 影石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+14–16% 营收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的高端窗口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影石「含泪增长」（净利 -6.62%、存货 +191.88%）→ 方向必须是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轻资产纯软件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实锤：影石已下放的功能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AI 导演 / 一键成片 2.0 · PanoMind 30+ 场景 · 手势 / 语音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3D 时光舱（3DGS）——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X6 首发、X5 已几乎全部下放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→ 但全停在同一层：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通用黑盒 + 事后离线 + 单设备 + 不可交互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→ 所以不做单点功能，只做它们之上的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记忆层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为什么是影石：360° 原生数据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普通照片 = 二维画面；普通视频 = 时间 + 二维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影石 360° =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时间 + 360° 空间 + 人物 + 环境 + 运动轨迹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不是「只有影石能做」，而是「影石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天然拥有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大规模、连续、360° 空间数据」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→ 空间记忆重构是影石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最自然的延伸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三层理解（设备理解人）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理解环境：这是雪山 / 人 / 滑雪 / 起跳 ——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影石已做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（PanoMind）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理解意图：我想怎么表达 ——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Intent Director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（「朋友站在哪里」）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理解偏好：我喜欢什么 —— 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Personal Curation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（选 / 删 / 藏三信号）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三层合流 → AI Memory Space → 空间体验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Demo 主线（6 步）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AI 理解：识别 3 次滑雪 / 2 次旅行 / 1 次聚会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AI 精选：今天 7 个值得留下的瞬间 → 点「山顶夕阳」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空间记忆：时间点 → Memory Scene（事件 + 空间 + 主体）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手势进入：抓取 → 拉近 → 旋转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高潮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：一句话「当时我朋友站在哪里？」→ AI 从 360° 数据定位 → 镜头转向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技术架构（语义与审美分离）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空间事件理解层：Event Timeline + Spatial Map + Subject Track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意图 / 查询层 · VLM → query.json（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白名单 Schema，仅枚举值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记忆精选层：选 / 删 / 藏 → 偏好权重（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不做人格测试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空间重构层：深度 / 视差 / 3DGS → 可导航空间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关键：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VLM 不进实时环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，下游全确定性、秒级重跑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48h 路线图（含自评线）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M0 · 0–6h：素材 + Schema（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100% 合法 JSON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M1 · 6–18h：空间事件理解（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主体丢失 &lt;5%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M2 · 18–30h：语义锚定 + 空间定位（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「朋友在哪」命中 ≥3/5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M3 · 30–42h：空间重构 + Gallery + 手势（切换 &lt;5s）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M4 · 42–48h：VR + 演示叙事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/>
          <p:nvPr/>
        </p:nvSpPr>
        <p:spPr>
          <a:xfrm>
            <a:off x="457200" y="274320"/>
            <a:ext cx="11277600" cy="8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dirty="0">
                <a:solidFill>
                  <a:srgbClr val="1F3864"/>
                </a:solidFill>
                <a:latin typeface="Calibri"/>
                <a:ea typeface="Microsoft YaHei"/>
              </a:rPr>
              <a:t>唯一工程焦点 + 愿景</a:t>
            </a:r>
          </a:p>
        </p:txBody>
      </p:sp>
      <p:sp>
        <p:nvSpPr>
          <p:cNvPr id="3" name="bar3"/>
          <p:cNvSpPr/>
          <p:nvPr/>
        </p:nvSpPr>
        <p:spPr>
          <a:xfrm>
            <a:off x="457200" y="1250000"/>
            <a:ext cx="2743200" cy="685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b4"/>
          <p:cNvSpPr/>
          <p:nvPr/>
        </p:nvSpPr>
        <p:spPr>
          <a:xfrm>
            <a:off x="457200" y="1500000"/>
            <a:ext cx="11277600" cy="510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一段真实 360° 素材 → AI 理解事件 → 自然语言检索 → 空间位置重现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这条链路跑通，选片 / 3D / 手势 / VR 都变成核心能力的不同表现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愿景：影石多设备 AI 的统一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记忆入口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「从人操作设备，走向</a:t>
            </a:r>
            <a:r>
              <a:rPr lang="zh-CN" sz="1900" b="1" dirty="0">
                <a:solidFill>
                  <a:srgbClr val="262626"/>
                </a:solidFill>
                <a:latin typeface="Calibri"/>
                <a:ea typeface="Microsoft YaHei"/>
              </a:rPr>
              <a:t>设备理解人</a:t>
            </a:r>
            <a:r>
              <a:rPr lang="zh-CN" sz="1900" b="0" dirty="0">
                <a:solidFill>
                  <a:srgbClr val="262626"/>
                </a:solidFill>
                <a:latin typeface="Calibri"/>
                <a:ea typeface="Microsoft YaHei"/>
              </a:rPr>
              <a:t>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3864"/>
      </a:dk2>
      <a:lt2>
        <a:srgbClr val="2E5496"/>
      </a:lt2>
      <a:accent1>
        <a:srgbClr val="2E74B5"/>
      </a:accent1>
      <a:accent2>
        <a:srgbClr val="1F4E79"/>
      </a:accent2>
      <a:accent3>
        <a:srgbClr val="2E5496"/>
      </a:accent3>
      <a:accent4>
        <a:srgbClr val="44546A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