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5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b2"/>
          <p:cNvSpPr/>
          <p:nvPr/>
        </p:nvSpPr>
        <p:spPr>
          <a:xfrm>
            <a:off x="1096000" y="1900000"/>
            <a:ext cx="10000000" cy="1300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sz="4000" b="1" dirty="0">
                <a:solidFill>
                  <a:srgbClr val="1F3864"/>
                </a:solidFill>
                <a:latin typeface="Calibri"/>
                <a:ea typeface="Microsoft YaHei"/>
              </a:rPr>
              <a:t>忆境 Relive</a:t>
            </a:r>
          </a:p>
        </p:txBody>
      </p:sp>
      <p:sp>
        <p:nvSpPr>
          <p:cNvPr id="3" name="bar3"/>
          <p:cNvSpPr/>
          <p:nvPr/>
        </p:nvSpPr>
        <p:spPr>
          <a:xfrm>
            <a:off x="4724400" y="3350000"/>
            <a:ext cx="2743200" cy="91440"/>
          </a:xfrm>
          <a:prstGeom prst="rect">
            <a:avLst/>
          </a:prstGeom>
          <a:solidFill>
            <a:srgbClr val="2E549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b4"/>
          <p:cNvSpPr/>
          <p:nvPr/>
        </p:nvSpPr>
        <p:spPr>
          <a:xfrm>
            <a:off x="1096000" y="3700000"/>
            <a:ext cx="10000000" cy="800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sz="2000" b="0" dirty="0">
                <a:solidFill>
                  <a:srgbClr val="404040"/>
                </a:solidFill>
                <a:latin typeface="Calibri"/>
                <a:ea typeface="Microsoft YaHei"/>
              </a:rPr>
              <a:t>记忆驱动的 AI 剪辑 · 影石黑客松 AI+影像开发赛道</a:t>
            </a:r>
          </a:p>
        </p:txBody>
      </p:sp>
      <p:sp>
        <p:nvSpPr>
          <p:cNvPr id="5" name="tb5"/>
          <p:cNvSpPr/>
          <p:nvPr/>
        </p:nvSpPr>
        <p:spPr>
          <a:xfrm>
            <a:off x="1096000" y="4550000"/>
            <a:ext cx="10000000" cy="800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sz="1800" b="0" dirty="0">
                <a:solidFill>
                  <a:srgbClr val="2E5496"/>
                </a:solidFill>
                <a:latin typeface="Calibri"/>
                <a:ea typeface="Microsoft YaHei"/>
              </a:rPr>
              <a:t>它记得你拍的每一刻，所以剪得更懂你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b2"/>
          <p:cNvSpPr/>
          <p:nvPr/>
        </p:nvSpPr>
        <p:spPr>
          <a:xfrm>
            <a:off x="457200" y="274320"/>
            <a:ext cx="11277600" cy="850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sz="3000" b="1" dirty="0">
                <a:solidFill>
                  <a:srgbClr val="1F3864"/>
                </a:solidFill>
                <a:latin typeface="Calibri"/>
                <a:ea typeface="Microsoft YaHei"/>
              </a:rPr>
              <a:t>一句话主张（BLUF）</a:t>
            </a:r>
          </a:p>
        </p:txBody>
      </p:sp>
      <p:sp>
        <p:nvSpPr>
          <p:cNvPr id="3" name="bar3"/>
          <p:cNvSpPr/>
          <p:nvPr/>
        </p:nvSpPr>
        <p:spPr>
          <a:xfrm>
            <a:off x="457200" y="1250000"/>
            <a:ext cx="2743200" cy="68580"/>
          </a:xfrm>
          <a:prstGeom prst="rect">
            <a:avLst/>
          </a:prstGeom>
          <a:solidFill>
            <a:srgbClr val="2E549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b4"/>
          <p:cNvSpPr/>
          <p:nvPr/>
        </p:nvSpPr>
        <p:spPr>
          <a:xfrm>
            <a:off x="457200" y="1500000"/>
            <a:ext cx="11277600" cy="5108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影石已有的 AI 剪辑（一键成片 / AI 导演）是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通用黑盒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：给你一条成片，不能问、不能改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忆境先把素材变成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可计算记忆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（时间 + 空间 + 人物 + 事件），AI 因此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懂你的素材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你用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一句话指挥剪辑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：「把三次起跳剪成 30 秒，用朋友在场的片段」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产出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可编辑时间轴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；记忆星系是工作台，空间重温是彩蛋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b2"/>
          <p:cNvSpPr/>
          <p:nvPr/>
        </p:nvSpPr>
        <p:spPr>
          <a:xfrm>
            <a:off x="457200" y="274320"/>
            <a:ext cx="11277600" cy="850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sz="3000" b="1" dirty="0">
                <a:solidFill>
                  <a:srgbClr val="1F3864"/>
                </a:solidFill>
                <a:latin typeface="Calibri"/>
                <a:ea typeface="Microsoft YaHei"/>
              </a:rPr>
              <a:t>战略底座（为什么打这个点）</a:t>
            </a:r>
          </a:p>
        </p:txBody>
      </p:sp>
      <p:sp>
        <p:nvSpPr>
          <p:cNvPr id="3" name="bar3"/>
          <p:cNvSpPr/>
          <p:nvPr/>
        </p:nvSpPr>
        <p:spPr>
          <a:xfrm>
            <a:off x="457200" y="1250000"/>
            <a:ext cx="2743200" cy="68580"/>
          </a:xfrm>
          <a:prstGeom prst="rect">
            <a:avLst/>
          </a:prstGeom>
          <a:solidFill>
            <a:srgbClr val="2E549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b4"/>
          <p:cNvSpPr/>
          <p:nvPr/>
        </p:nvSpPr>
        <p:spPr>
          <a:xfrm>
            <a:off x="457200" y="1500000"/>
            <a:ext cx="11277600" cy="5108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影石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唯一护城河 = 全景算法 + AI 软件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（VRIO）→ 做深软件，不拼硬件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大疆美国受限 + GoPro 崩溃 → 影石 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+14–16% 营收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的高端窗口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影石「含泪增长」（净利 -6.62%、存货 +191.88%）→ 方向必须是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轻资产纯软件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b2"/>
          <p:cNvSpPr/>
          <p:nvPr/>
        </p:nvSpPr>
        <p:spPr>
          <a:xfrm>
            <a:off x="457200" y="274320"/>
            <a:ext cx="11277600" cy="850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sz="3000" b="1" dirty="0">
                <a:solidFill>
                  <a:srgbClr val="1F3864"/>
                </a:solidFill>
                <a:latin typeface="Calibri"/>
                <a:ea typeface="Microsoft YaHei"/>
              </a:rPr>
              <a:t>实锤：影石已下放的功能</a:t>
            </a:r>
          </a:p>
        </p:txBody>
      </p:sp>
      <p:sp>
        <p:nvSpPr>
          <p:cNvPr id="3" name="bar3"/>
          <p:cNvSpPr/>
          <p:nvPr/>
        </p:nvSpPr>
        <p:spPr>
          <a:xfrm>
            <a:off x="457200" y="1250000"/>
            <a:ext cx="2743200" cy="68580"/>
          </a:xfrm>
          <a:prstGeom prst="rect">
            <a:avLst/>
          </a:prstGeom>
          <a:solidFill>
            <a:srgbClr val="2E549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b4"/>
          <p:cNvSpPr/>
          <p:nvPr/>
        </p:nvSpPr>
        <p:spPr>
          <a:xfrm>
            <a:off x="457200" y="1500000"/>
            <a:ext cx="11277600" cy="5108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AI 导演 / 一键成片 2.0 · PanoMind 30+ 场景 · 手势 / 语音 · 3D 时光舱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X6 首发、X5 已几乎全部下放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——但全停在同一层：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通用黑盒 + 不可交互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影石已有的是「一键」，用户要的是「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听我的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」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我们做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可指挥的记忆层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：素材在哪、谁在场、哪一刻最好，AI 都知道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b2"/>
          <p:cNvSpPr/>
          <p:nvPr/>
        </p:nvSpPr>
        <p:spPr>
          <a:xfrm>
            <a:off x="457200" y="274320"/>
            <a:ext cx="11277600" cy="850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sz="3000" b="1" dirty="0">
                <a:solidFill>
                  <a:srgbClr val="1F3864"/>
                </a:solidFill>
                <a:latin typeface="Calibri"/>
                <a:ea typeface="Microsoft YaHei"/>
              </a:rPr>
              <a:t>为什么是影石：360° 原生数据</a:t>
            </a:r>
          </a:p>
        </p:txBody>
      </p:sp>
      <p:sp>
        <p:nvSpPr>
          <p:cNvPr id="3" name="bar3"/>
          <p:cNvSpPr/>
          <p:nvPr/>
        </p:nvSpPr>
        <p:spPr>
          <a:xfrm>
            <a:off x="457200" y="1250000"/>
            <a:ext cx="2743200" cy="68580"/>
          </a:xfrm>
          <a:prstGeom prst="rect">
            <a:avLst/>
          </a:prstGeom>
          <a:solidFill>
            <a:srgbClr val="2E549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b4"/>
          <p:cNvSpPr/>
          <p:nvPr/>
        </p:nvSpPr>
        <p:spPr>
          <a:xfrm>
            <a:off x="457200" y="1500000"/>
            <a:ext cx="11277600" cy="5108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普通照片 = 二维画面；普通视频 = 时间 + 二维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影石 360° = 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时间 + 360° 空间 + 人物 + 环境 + 运动轨迹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「朋友在场的片段」这类指令，只有理解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空间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的 AI 听得懂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影石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天然拥有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大规模、连续、360° 空间数据——这是最自然的延伸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b2"/>
          <p:cNvSpPr/>
          <p:nvPr/>
        </p:nvSpPr>
        <p:spPr>
          <a:xfrm>
            <a:off x="457200" y="274320"/>
            <a:ext cx="11277600" cy="850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sz="3000" b="1" dirty="0">
                <a:solidFill>
                  <a:srgbClr val="1F3864"/>
                </a:solidFill>
                <a:latin typeface="Calibri"/>
                <a:ea typeface="Microsoft YaHei"/>
              </a:rPr>
              <a:t>三层理解（设备理解人）</a:t>
            </a:r>
          </a:p>
        </p:txBody>
      </p:sp>
      <p:sp>
        <p:nvSpPr>
          <p:cNvPr id="3" name="bar3"/>
          <p:cNvSpPr/>
          <p:nvPr/>
        </p:nvSpPr>
        <p:spPr>
          <a:xfrm>
            <a:off x="457200" y="1250000"/>
            <a:ext cx="2743200" cy="68580"/>
          </a:xfrm>
          <a:prstGeom prst="rect">
            <a:avLst/>
          </a:prstGeom>
          <a:solidFill>
            <a:srgbClr val="2E549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b4"/>
          <p:cNvSpPr/>
          <p:nvPr/>
        </p:nvSpPr>
        <p:spPr>
          <a:xfrm>
            <a:off x="457200" y="1500000"/>
            <a:ext cx="11277600" cy="5108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理解环境：雪山 / 人 / 滑雪 / 起跳 —— 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影石已做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（PanoMind）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理解意图：我想怎么剪 —— 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一句话指挥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（「用朋友在场的片段」）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理解偏好：我喜欢什么 —— 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Personal Curation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（选 / 删 / 藏三信号）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三层合流 → 忆境 → 懂素材的剪辑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b2"/>
          <p:cNvSpPr/>
          <p:nvPr/>
        </p:nvSpPr>
        <p:spPr>
          <a:xfrm>
            <a:off x="457200" y="274320"/>
            <a:ext cx="11277600" cy="850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sz="3000" b="1" dirty="0">
                <a:solidFill>
                  <a:srgbClr val="1F3864"/>
                </a:solidFill>
                <a:latin typeface="Calibri"/>
                <a:ea typeface="Microsoft YaHei"/>
              </a:rPr>
              <a:t>记忆星系：剪辑工作台</a:t>
            </a:r>
          </a:p>
        </p:txBody>
      </p:sp>
      <p:sp>
        <p:nvSpPr>
          <p:cNvPr id="3" name="bar3"/>
          <p:cNvSpPr/>
          <p:nvPr/>
        </p:nvSpPr>
        <p:spPr>
          <a:xfrm>
            <a:off x="457200" y="1250000"/>
            <a:ext cx="2743200" cy="68580"/>
          </a:xfrm>
          <a:prstGeom prst="rect">
            <a:avLst/>
          </a:prstGeom>
          <a:solidFill>
            <a:srgbClr val="2E549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b4"/>
          <p:cNvSpPr/>
          <p:nvPr/>
        </p:nvSpPr>
        <p:spPr>
          <a:xfrm>
            <a:off x="457200" y="1500000"/>
            <a:ext cx="11277600" cy="5108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记忆星系（宏观）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：全部素材的可导航索引，每颗星是一段时刻——在这里决定「剪什么」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手势漫游：抓取 = 选择 · 拉近 = 预览 · 旋转 = 环视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记忆场景（微观）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：进入一颗星，回到那一刻的 360° 空间——在这里确认「就是这段」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选材在星系，取材在场景，剪辑在时间轴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b2"/>
          <p:cNvSpPr/>
          <p:nvPr/>
        </p:nvSpPr>
        <p:spPr>
          <a:xfrm>
            <a:off x="457200" y="274320"/>
            <a:ext cx="11277600" cy="850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sz="3000" b="1" dirty="0">
                <a:solidFill>
                  <a:srgbClr val="1F3864"/>
                </a:solidFill>
                <a:latin typeface="Calibri"/>
                <a:ea typeface="Microsoft YaHei"/>
              </a:rPr>
              <a:t>Demo 主线（6 步）</a:t>
            </a:r>
          </a:p>
        </p:txBody>
      </p:sp>
      <p:sp>
        <p:nvSpPr>
          <p:cNvPr id="3" name="bar3"/>
          <p:cNvSpPr/>
          <p:nvPr/>
        </p:nvSpPr>
        <p:spPr>
          <a:xfrm>
            <a:off x="457200" y="1250000"/>
            <a:ext cx="2743200" cy="68580"/>
          </a:xfrm>
          <a:prstGeom prst="rect">
            <a:avLst/>
          </a:prstGeom>
          <a:solidFill>
            <a:srgbClr val="2E549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b4"/>
          <p:cNvSpPr/>
          <p:nvPr/>
        </p:nvSpPr>
        <p:spPr>
          <a:xfrm>
            <a:off x="457200" y="1500000"/>
            <a:ext cx="11277600" cy="5108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AI 理解素材：3 次滑雪 / 2 次旅行 / 1 次聚会，汇成记忆星系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一句话指挥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：「把三次起跳剪成 30 秒，用朋友在场的片段」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AI 从记忆索引取材 → 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可编辑时间轴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：换素材、改节奏，点选即改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高潮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：「当时我朋友站在哪里？」→ 360° 定位 → 镜头转向 → 正是剪进片子的那一幕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产出：一条成片 + 一份可进入的空间记忆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b2"/>
          <p:cNvSpPr/>
          <p:nvPr/>
        </p:nvSpPr>
        <p:spPr>
          <a:xfrm>
            <a:off x="457200" y="274320"/>
            <a:ext cx="11277600" cy="850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sz="3000" b="1" dirty="0">
                <a:solidFill>
                  <a:srgbClr val="1F3864"/>
                </a:solidFill>
                <a:latin typeface="Calibri"/>
                <a:ea typeface="Microsoft YaHei"/>
              </a:rPr>
              <a:t>项目重点（P0 / P1 / P2）</a:t>
            </a:r>
          </a:p>
        </p:txBody>
      </p:sp>
      <p:sp>
        <p:nvSpPr>
          <p:cNvPr id="3" name="bar3"/>
          <p:cNvSpPr/>
          <p:nvPr/>
        </p:nvSpPr>
        <p:spPr>
          <a:xfrm>
            <a:off x="457200" y="1250000"/>
            <a:ext cx="2743200" cy="68580"/>
          </a:xfrm>
          <a:prstGeom prst="rect">
            <a:avLst/>
          </a:prstGeom>
          <a:solidFill>
            <a:srgbClr val="2E549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b4"/>
          <p:cNvSpPr/>
          <p:nvPr/>
        </p:nvSpPr>
        <p:spPr>
          <a:xfrm>
            <a:off x="457200" y="1500000"/>
            <a:ext cx="11277600" cy="5108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P0 灵魂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：一句话 → 懂素材的取材 → 可编辑时间轴（不可降级）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P1 形态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：星系选材 · 场景确认 · 时间轴精剪（三点一线）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P2 表现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：手势、VR、空间重温（加分项，出问题就砍）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自检：只保留一个画面——「说一句话，对的片段出现在时间轴上」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b2"/>
          <p:cNvSpPr/>
          <p:nvPr/>
        </p:nvSpPr>
        <p:spPr>
          <a:xfrm>
            <a:off x="457200" y="274320"/>
            <a:ext cx="11277600" cy="850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sz="3000" b="1" dirty="0">
                <a:solidFill>
                  <a:srgbClr val="1F3864"/>
                </a:solidFill>
                <a:latin typeface="Calibri"/>
                <a:ea typeface="Microsoft YaHei"/>
              </a:rPr>
              <a:t>北极星指标</a:t>
            </a:r>
          </a:p>
        </p:txBody>
      </p:sp>
      <p:sp>
        <p:nvSpPr>
          <p:cNvPr id="3" name="bar3"/>
          <p:cNvSpPr/>
          <p:nvPr/>
        </p:nvSpPr>
        <p:spPr>
          <a:xfrm>
            <a:off x="457200" y="1250000"/>
            <a:ext cx="2743200" cy="68580"/>
          </a:xfrm>
          <a:prstGeom prst="rect">
            <a:avLst/>
          </a:prstGeom>
          <a:solidFill>
            <a:srgbClr val="2E549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b4"/>
          <p:cNvSpPr/>
          <p:nvPr/>
        </p:nvSpPr>
        <p:spPr>
          <a:xfrm>
            <a:off x="457200" y="1500000"/>
            <a:ext cx="11277600" cy="5108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每周被采纳的 AI 剪辑次数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：一句话指令 → 取材正确 → 用户保留 ≥80% 并导出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三环缺一不可：取材错了是硬伤，用户全推翻是没懂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护栏：取材精确率 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≥3/5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 · 指令到时间轴 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&lt;30s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 · 定位跳转 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&lt;5s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演示日版本：三个一句话指令全部产出可用成片 + 连续三次完整演示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不数虚荣指标：渲染时长、星系浏览时长、生成卡片数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b2"/>
          <p:cNvSpPr/>
          <p:nvPr/>
        </p:nvSpPr>
        <p:spPr>
          <a:xfrm>
            <a:off x="457200" y="274320"/>
            <a:ext cx="11277600" cy="850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sz="3000" b="1" dirty="0">
                <a:solidFill>
                  <a:srgbClr val="1F3864"/>
                </a:solidFill>
                <a:latin typeface="Calibri"/>
                <a:ea typeface="Microsoft YaHei"/>
              </a:rPr>
              <a:t>技术架构（语义与审美分离）</a:t>
            </a:r>
          </a:p>
        </p:txBody>
      </p:sp>
      <p:sp>
        <p:nvSpPr>
          <p:cNvPr id="3" name="bar3"/>
          <p:cNvSpPr/>
          <p:nvPr/>
        </p:nvSpPr>
        <p:spPr>
          <a:xfrm>
            <a:off x="457200" y="1250000"/>
            <a:ext cx="2743200" cy="68580"/>
          </a:xfrm>
          <a:prstGeom prst="rect">
            <a:avLst/>
          </a:prstGeom>
          <a:solidFill>
            <a:srgbClr val="2E549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b4"/>
          <p:cNvSpPr/>
          <p:nvPr/>
        </p:nvSpPr>
        <p:spPr>
          <a:xfrm>
            <a:off x="457200" y="1500000"/>
            <a:ext cx="11277600" cy="5108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空间事件理解层：Event Timeline + Spatial Map + Subject Track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意图 / 查询层 · VLM → query.json（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白名单 Schema，仅枚举值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）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记忆精选层：选 / 删 / 藏 → 偏好权重（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不做人格测试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）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剪辑执行层：确定性时间轴操作 · 空间重构层：深度 / 视差 / 3DGS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VLM 不进实时环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，下游全确定性、秒级重跑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b2"/>
          <p:cNvSpPr/>
          <p:nvPr/>
        </p:nvSpPr>
        <p:spPr>
          <a:xfrm>
            <a:off x="457200" y="274320"/>
            <a:ext cx="11277600" cy="850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sz="3000" b="1" dirty="0">
                <a:solidFill>
                  <a:srgbClr val="1F3864"/>
                </a:solidFill>
                <a:latin typeface="Calibri"/>
                <a:ea typeface="Microsoft YaHei"/>
              </a:rPr>
              <a:t>48h 路线图 + 愿景</a:t>
            </a:r>
          </a:p>
        </p:txBody>
      </p:sp>
      <p:sp>
        <p:nvSpPr>
          <p:cNvPr id="3" name="bar3"/>
          <p:cNvSpPr/>
          <p:nvPr/>
        </p:nvSpPr>
        <p:spPr>
          <a:xfrm>
            <a:off x="457200" y="1250000"/>
            <a:ext cx="2743200" cy="68580"/>
          </a:xfrm>
          <a:prstGeom prst="rect">
            <a:avLst/>
          </a:prstGeom>
          <a:solidFill>
            <a:srgbClr val="2E549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b4"/>
          <p:cNvSpPr/>
          <p:nvPr/>
        </p:nvSpPr>
        <p:spPr>
          <a:xfrm>
            <a:off x="457200" y="1500000"/>
            <a:ext cx="11277600" cy="5108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M0 · 0–6h 素材 + Schema · M1 · 6–18h 空间事件理解（主体丢失 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&lt;5%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）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M2 · 18–30h 语义锚定（「朋友在哪」命中 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≥3/5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）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M3 · 30–42h 取材 + 时间轴 + 星系（指令到时间轴 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&lt;30s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） · M4 · 演示叙事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最差 fallback ≈ 影石已有能力，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不比基线差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愿景：剪辑从操作软件，变成跟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懂你素材的 AI</a:t>
            </a:r>
            <a:r>
              <a:rPr lang="zh-CN" sz="1900" b="0" dirty="0">
                <a:solidFill>
                  <a:srgbClr val="262626"/>
                </a:solidFill>
                <a:latin typeface="Calibri"/>
                <a:ea typeface="Microsoft YaHei"/>
              </a:rPr>
              <a:t> 对话——从人操作设备，到</a:t>
            </a:r>
            <a:r>
              <a:rPr lang="zh-CN" sz="1900" b="1" dirty="0">
                <a:solidFill>
                  <a:srgbClr val="262626"/>
                </a:solidFill>
                <a:latin typeface="Calibri"/>
                <a:ea typeface="Microsoft YaHei"/>
              </a:rPr>
              <a:t>设备理解人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3864"/>
      </a:dk2>
      <a:lt2>
        <a:srgbClr val="2E5496"/>
      </a:lt2>
      <a:accent1>
        <a:srgbClr val="2E74B5"/>
      </a:accent1>
      <a:accent2>
        <a:srgbClr val="1F4E79"/>
      </a:accent2>
      <a:accent3>
        <a:srgbClr val="2E5496"/>
      </a:accent3>
      <a:accent4>
        <a:srgbClr val="44546A"/>
      </a:accent4>
      <a:accent5>
        <a:srgbClr val="5B9BD5"/>
      </a:accent5>
      <a:accent6>
        <a:srgbClr val="ED7D31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